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264" r:id="rId2"/>
    <p:sldId id="261" r:id="rId3"/>
  </p:sldIdLst>
  <p:sldSz cx="7559675" cy="10691813"/>
  <p:notesSz cx="6858000" cy="9144000"/>
  <p:defaultTextStyle>
    <a:defPPr>
      <a:defRPr lang="ko-KR"/>
    </a:defPPr>
    <a:lvl1pPr marL="0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1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2381" userDrawn="1">
          <p15:clr>
            <a:srgbClr val="A4A3A4"/>
          </p15:clr>
        </p15:guide>
        <p15:guide id="3" pos="158" userDrawn="1">
          <p15:clr>
            <a:srgbClr val="A4A3A4"/>
          </p15:clr>
        </p15:guide>
        <p15:guide id="4" pos="4604" userDrawn="1">
          <p15:clr>
            <a:srgbClr val="A4A3A4"/>
          </p15:clr>
        </p15:guide>
        <p15:guide id="5" orient="horz" pos="714" userDrawn="1">
          <p15:clr>
            <a:srgbClr val="A4A3A4"/>
          </p15:clr>
        </p15:guide>
        <p15:guide id="6" orient="horz" pos="950" userDrawn="1">
          <p15:clr>
            <a:srgbClr val="A4A3A4"/>
          </p15:clr>
        </p15:guide>
        <p15:guide id="7" pos="278" userDrawn="1">
          <p15:clr>
            <a:srgbClr val="A4A3A4"/>
          </p15:clr>
        </p15:guide>
        <p15:guide id="8" pos="1768" userDrawn="1">
          <p15:clr>
            <a:srgbClr val="A4A3A4"/>
          </p15:clr>
        </p15:guide>
        <p15:guide id="9" orient="horz" pos="6407" userDrawn="1">
          <p15:clr>
            <a:srgbClr val="A4A3A4"/>
          </p15:clr>
        </p15:guide>
        <p15:guide id="10" pos="509" userDrawn="1">
          <p15:clr>
            <a:srgbClr val="A4A3A4"/>
          </p15:clr>
        </p15:guide>
        <p15:guide id="11" orient="horz" pos="12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77B"/>
    <a:srgbClr val="00A2FF"/>
    <a:srgbClr val="CC0099"/>
    <a:srgbClr val="D60093"/>
    <a:srgbClr val="993366"/>
    <a:srgbClr val="CC0066"/>
    <a:srgbClr val="040000"/>
    <a:srgbClr val="32C8FA"/>
    <a:srgbClr val="D4F1FF"/>
    <a:srgbClr val="E0E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5" autoAdjust="0"/>
    <p:restoredTop sz="95984" autoAdjust="0"/>
  </p:normalViewPr>
  <p:slideViewPr>
    <p:cSldViewPr snapToGrid="0">
      <p:cViewPr varScale="1">
        <p:scale>
          <a:sx n="73" d="100"/>
          <a:sy n="73" d="100"/>
        </p:scale>
        <p:origin x="3072" y="72"/>
      </p:cViewPr>
      <p:guideLst>
        <p:guide orient="horz" pos="3368"/>
        <p:guide pos="2381"/>
        <p:guide pos="158"/>
        <p:guide pos="4604"/>
        <p:guide orient="horz" pos="714"/>
        <p:guide orient="horz" pos="950"/>
        <p:guide pos="278"/>
        <p:guide pos="1768"/>
        <p:guide orient="horz" pos="6407"/>
        <p:guide pos="509"/>
        <p:guide orient="horz" pos="12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D12E3-A63F-4A4C-A55C-5F99AB655300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909C9-FA9E-4C02-8D2B-6786734C1C6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1418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C1049-64BE-4C96-B008-560C008B9A7D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05591-2B35-4771-AEB3-04DCF9BF55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51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05591-2B35-4771-AEB3-04DCF9BF55F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7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2EB73E69-57AF-4174-BE05-6226185CDDB8}"/>
              </a:ext>
            </a:extLst>
          </p:cNvPr>
          <p:cNvGrpSpPr/>
          <p:nvPr userDrawn="1"/>
        </p:nvGrpSpPr>
        <p:grpSpPr>
          <a:xfrm>
            <a:off x="0" y="-36642"/>
            <a:ext cx="7559675" cy="10765097"/>
            <a:chOff x="0" y="0"/>
            <a:chExt cx="7559675" cy="1076509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0577BFB-2FF5-45D1-9649-8E5DF77E5E6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091"/>
            <a:stretch/>
          </p:blipFill>
          <p:spPr>
            <a:xfrm>
              <a:off x="0" y="0"/>
              <a:ext cx="7559675" cy="10765097"/>
            </a:xfrm>
            <a:prstGeom prst="rect">
              <a:avLst/>
            </a:prstGeom>
          </p:spPr>
        </p:pic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8251244A-D8AF-4A77-809C-61D3E7D970D3}"/>
                </a:ext>
              </a:extLst>
            </p:cNvPr>
            <p:cNvGrpSpPr/>
            <p:nvPr userDrawn="1"/>
          </p:nvGrpSpPr>
          <p:grpSpPr>
            <a:xfrm>
              <a:off x="2666875" y="9873844"/>
              <a:ext cx="2240405" cy="479188"/>
              <a:chOff x="2491615" y="9636568"/>
              <a:chExt cx="2240405" cy="479188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1B2CE31D-F036-40E4-A558-AB1E7433ABE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1615" y="9667048"/>
                <a:ext cx="630170" cy="448708"/>
              </a:xfrm>
              <a:prstGeom prst="rect">
                <a:avLst/>
              </a:prstGeom>
            </p:spPr>
          </p:pic>
          <p:sp>
            <p:nvSpPr>
              <p:cNvPr id="8" name="제목 1">
                <a:extLst>
                  <a:ext uri="{FF2B5EF4-FFF2-40B4-BE49-F238E27FC236}">
                    <a16:creationId xmlns:a16="http://schemas.microsoft.com/office/drawing/2014/main" id="{5D8C73B8-2233-4937-B5CE-58C1D0EE632D}"/>
                  </a:ext>
                </a:extLst>
              </p:cNvPr>
              <p:cNvSpPr txBox="1">
                <a:spLocks/>
              </p:cNvSpPr>
              <p:nvPr userDrawn="1"/>
            </p:nvSpPr>
            <p:spPr>
              <a:xfrm>
                <a:off x="2896357" y="9636568"/>
                <a:ext cx="1835663" cy="38686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defPPr>
                  <a:defRPr lang="ko-KR"/>
                </a:defPPr>
                <a:lvl1pPr marL="0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7754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95507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493261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991015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88768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86522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84275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982029" algn="l" defTabSz="995507" rtl="0" eaLnBrk="1" latinLnBrk="1" hangingPunct="1">
                  <a:defRPr sz="196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2075" algn="l">
                  <a:buClr>
                    <a:schemeClr val="tx1">
                      <a:lumMod val="75000"/>
                      <a:lumOff val="25000"/>
                    </a:schemeClr>
                  </a:buClr>
                  <a:buSzPct val="80000"/>
                  <a:tabLst>
                    <a:tab pos="182563" algn="l"/>
                    <a:tab pos="898525" algn="l"/>
                  </a:tabLst>
                </a:pPr>
                <a:r>
                  <a:rPr lang="ko-KR" altLang="en-US" sz="1400" spc="-100" dirty="0">
                    <a:solidFill>
                      <a:srgbClr val="04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삼성 청년 </a:t>
                </a:r>
                <a:r>
                  <a:rPr lang="en-US" altLang="ko-KR" sz="1400" spc="-100" dirty="0">
                    <a:solidFill>
                      <a:srgbClr val="04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SW </a:t>
                </a:r>
                <a:r>
                  <a:rPr lang="ko-KR" altLang="en-US" sz="1400" spc="-100" dirty="0">
                    <a:solidFill>
                      <a:srgbClr val="040000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아카데미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5353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7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1214C75-10DF-4441-983D-D933734F26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78" t="69" b="-1"/>
          <a:stretch/>
        </p:blipFill>
        <p:spPr>
          <a:xfrm>
            <a:off x="0" y="-1"/>
            <a:ext cx="7559675" cy="1068900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5C44485-C87C-4387-B675-E56DFAA95E36}"/>
              </a:ext>
            </a:extLst>
          </p:cNvPr>
          <p:cNvSpPr/>
          <p:nvPr userDrawn="1"/>
        </p:nvSpPr>
        <p:spPr>
          <a:xfrm>
            <a:off x="3750027" y="10252055"/>
            <a:ext cx="3778250" cy="20005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kumimoji="1" lang="en-US" altLang="ko-KR" sz="700" kern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Copyright 2020. </a:t>
            </a:r>
            <a:r>
              <a:rPr kumimoji="1" lang="ko-KR" altLang="en-US" sz="700" kern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삼성청년</a:t>
            </a:r>
            <a:r>
              <a:rPr kumimoji="1" lang="en-US" altLang="ko-KR" sz="700" kern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SW</a:t>
            </a:r>
            <a:r>
              <a:rPr kumimoji="1" lang="ko-KR" altLang="en-US" sz="700" kern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아카데미</a:t>
            </a:r>
            <a:r>
              <a:rPr kumimoji="1" lang="en-US" altLang="ko-KR" sz="700" kern="1200" spc="-7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Arial" panose="020B0604020202020204" pitchFamily="34" charset="0"/>
              </a:rPr>
              <a:t>. All rights reserved</a:t>
            </a:r>
            <a:endParaRPr kumimoji="1" lang="ko-KR" altLang="en-US" sz="700" kern="1200" spc="-7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17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</p:spPr>
        <p:txBody>
          <a:bodyPr anchor="b"/>
          <a:lstStyle>
            <a:lvl1pPr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929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573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61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930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1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745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4428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395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560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EBDE9CD8-4D51-4AE1-AC01-BB747F64EDAD}" type="datetimeFigureOut">
              <a:rPr lang="ko-KR" altLang="en-US" smtClean="0"/>
              <a:t>2025-10-27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83008B-B1D4-4A78-B490-E9493B9CBB3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82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19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&#49324;&#50857;&#51088;&#51060;&#47492;/&#54532;&#47196;&#51229;&#53944;&#51060;&#47492;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2AEEF68-5AD5-46D2-85D3-81432A30A7B3}"/>
              </a:ext>
            </a:extLst>
          </p:cNvPr>
          <p:cNvSpPr txBox="1">
            <a:spLocks/>
          </p:cNvSpPr>
          <p:nvPr/>
        </p:nvSpPr>
        <p:spPr>
          <a:xfrm>
            <a:off x="57410" y="536732"/>
            <a:ext cx="6518031" cy="3868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193675" algn="l">
              <a:buClr>
                <a:srgbClr val="FF6600"/>
              </a:buClr>
              <a:buSzPct val="60000"/>
              <a:buFont typeface="나눔스퀘어 Bold" panose="020B0600000101010101" pitchFamily="50" charset="-127"/>
              <a:buChar char="≫"/>
              <a:tabLst>
                <a:tab pos="182563" algn="l"/>
                <a:tab pos="898525" algn="l"/>
              </a:tabLst>
            </a:pP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STAR </a:t>
            </a: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기법을 활용한 성취 스토리 작성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F976CB4-893E-4417-BD9B-5812FC378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157359"/>
              </p:ext>
            </p:extLst>
          </p:nvPr>
        </p:nvGraphicFramePr>
        <p:xfrm>
          <a:off x="441325" y="923592"/>
          <a:ext cx="6943712" cy="2824480"/>
        </p:xfrm>
        <a:graphic>
          <a:graphicData uri="http://schemas.openxmlformats.org/drawingml/2006/table">
            <a:tbl>
              <a:tblPr firstRow="1" bandRow="1"/>
              <a:tblGrid>
                <a:gridCol w="1044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9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614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경험 예시</a:t>
                      </a:r>
                    </a:p>
                  </a:txBody>
                  <a:tcPr marL="91101" marR="91101" marT="50298" marB="50298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1pPr>
                      <a:lvl2pPr marL="377967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2pPr>
                      <a:lvl3pPr marL="755934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3pPr>
                      <a:lvl4pPr marL="1133902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4pPr>
                      <a:lvl5pPr marL="1511869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5pPr>
                      <a:lvl6pPr marL="1889836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6pPr>
                      <a:lvl7pPr marL="2267803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7pPr>
                      <a:lvl8pPr marL="2645771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8pPr>
                      <a:lvl9pPr marL="3023738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l" defTabSz="755934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직무 관련 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: SW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프로젝트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공모전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SW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역량 테스트 등급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</a:t>
                      </a:r>
                      <a:r>
                        <a:rPr kumimoji="1" lang="en-US" altLang="ko-KR" sz="1000" b="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언어 이해도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교육과정 이수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자격 취득 등 </a:t>
                      </a:r>
                    </a:p>
                    <a:p>
                      <a:pPr marL="0" marR="0" lvl="0" indent="0" algn="l" defTabSz="755934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개별 경험 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사소한 것도 가능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) 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아르바이트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봉사활동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동아리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동호회 활동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대외활동 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어학연수 등</a:t>
                      </a:r>
                      <a:r>
                        <a:rPr kumimoji="1" lang="en-US" altLang="ko-KR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), </a:t>
                      </a:r>
                      <a:r>
                        <a:rPr kumimoji="1" lang="ko-KR" altLang="en-US" sz="1000" b="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어학 점수 등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148">
                <a:tc>
                  <a:txBody>
                    <a:bodyPr/>
                    <a:lstStyle/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</a:t>
                      </a:r>
                    </a:p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(Situation / </a:t>
                      </a:r>
                      <a:r>
                        <a:rPr kumimoji="1" lang="ko-KR" altLang="en-US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상황</a:t>
                      </a:r>
                      <a:r>
                        <a:rPr kumimoji="1" lang="en-US" altLang="ko-KR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91101" marR="91101" marT="50298" marB="50298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두괄식</a:t>
                      </a:r>
                      <a:r>
                        <a:rPr kumimoji="1" lang="ko-KR" altLang="en-US" sz="100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으로 어떤 일을 하게 된 계기나 배경을 설명합니다</a:t>
                      </a:r>
                      <a:r>
                        <a:rPr kumimoji="1" lang="en-US" altLang="ko-KR" sz="1000" kern="1200" spc="-1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→ 언제 있었던 일인가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?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어떤 조직에 소속하여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나의 역할은 무엇이었나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45062"/>
                  </a:ext>
                </a:extLst>
              </a:tr>
              <a:tr h="456148">
                <a:tc>
                  <a:txBody>
                    <a:bodyPr/>
                    <a:lstStyle/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T</a:t>
                      </a:r>
                    </a:p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(Task / </a:t>
                      </a:r>
                      <a:r>
                        <a:rPr kumimoji="1" lang="ko-KR" altLang="en-US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과제</a:t>
                      </a:r>
                      <a:r>
                        <a:rPr kumimoji="1" lang="en-US" altLang="ko-KR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목표</a:t>
                      </a:r>
                      <a:r>
                        <a:rPr kumimoji="1" lang="en-US" altLang="ko-KR" sz="9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91101" marR="91101" marT="50298" marB="50298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경험과정에서 세운 과제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목표를 제시합니다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특정 상황에서의 과제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난이도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중요성을 함께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어필합니다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→ 어떤 </a:t>
                      </a:r>
                      <a:r>
                        <a:rPr kumimoji="1" lang="ko-KR" altLang="en-US" sz="1000" kern="1200" spc="-10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프로젝트였나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?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도전 과제는 무엇이었나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?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문제점은 무엇이었나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?</a:t>
                      </a:r>
                      <a:endParaRPr kumimoji="1" lang="ko-KR" altLang="en-US" sz="1000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24580"/>
                  </a:ext>
                </a:extLst>
              </a:tr>
              <a:tr h="579834">
                <a:tc>
                  <a:txBody>
                    <a:bodyPr/>
                    <a:lstStyle/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A</a:t>
                      </a:r>
                    </a:p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(Action / </a:t>
                      </a:r>
                      <a:r>
                        <a:rPr kumimoji="1" lang="ko-KR" altLang="en-US" sz="10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</a:t>
                      </a:r>
                      <a:r>
                        <a:rPr kumimoji="1" lang="en-US" altLang="ko-KR" sz="10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000" b="1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bg1"/>
                            </a:gs>
                            <a:gs pos="10000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목표를 달성하기 위해 노력한 행동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방법을 선택한 이유와 기준 등을 설명합니다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행동의 특이한 부분이나 추진력을 발휘할 수 있었던 원동력 등을 녹여내어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노력한 정도를 보여줍니다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→ 문제 해결을 위해 무엇을 했나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?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새롭게 시도한 것은 무엇이며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행동은 </a:t>
                      </a:r>
                      <a:r>
                        <a:rPr kumimoji="1" lang="ko-KR" altLang="en-US" sz="1000" kern="1200" spc="-10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적절했는가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?</a:t>
                      </a:r>
                      <a:endParaRPr kumimoji="1" lang="ko-KR" altLang="en-US" sz="1000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307558"/>
                  </a:ext>
                </a:extLst>
              </a:tr>
              <a:tr h="456148">
                <a:tc>
                  <a:txBody>
                    <a:bodyPr/>
                    <a:lstStyle/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R</a:t>
                      </a:r>
                    </a:p>
                    <a:p>
                      <a:pPr marL="0" marR="0" lvl="0" indent="0" algn="dist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(Result / </a:t>
                      </a:r>
                      <a:r>
                        <a:rPr kumimoji="1" lang="ko-KR" altLang="en-US" sz="10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결과</a:t>
                      </a:r>
                      <a:r>
                        <a:rPr kumimoji="1" lang="en-US" altLang="ko-KR" sz="10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ko-KR" altLang="en-US" sz="1000" b="1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bg1"/>
                            </a:gs>
                            <a:gs pos="10000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anchorCtr="1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1pPr>
                      <a:lvl2pPr marL="377967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2pPr>
                      <a:lvl3pPr marL="755934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3pPr>
                      <a:lvl4pPr marL="1133902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4pPr>
                      <a:lvl5pPr marL="1511869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5pPr>
                      <a:lvl6pPr marL="1889836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6pPr>
                      <a:lvl7pPr marL="2267803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7pPr>
                      <a:lvl8pPr marL="2645771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8pPr>
                      <a:lvl9pPr marL="3023738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구체적인 숫자를 언급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하여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경험을 통해 배운 점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느낀 점을 중심으로 교훈을 작성하며 긍정적으로 마무리합니다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1" indent="0" algn="l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→ 이전과 달라진 점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이점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손해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등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과 깨달은 것은 무엇인가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? </a:t>
                      </a:r>
                      <a:r>
                        <a:rPr kumimoji="1" lang="ko-KR" altLang="en-US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직무에 도움이 되는 점은 무엇인가</a:t>
                      </a:r>
                      <a:r>
                        <a:rPr kumimoji="1" lang="en-US" altLang="ko-KR" sz="1000" kern="1200" spc="-10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?</a:t>
                      </a:r>
                      <a:endParaRPr kumimoji="1" lang="ko-KR" altLang="en-US" sz="1000" kern="1200" spc="-1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AA3E48BD-7C90-4DF5-80EE-AB61AB6D9EF7}"/>
              </a:ext>
            </a:extLst>
          </p:cNvPr>
          <p:cNvSpPr txBox="1">
            <a:spLocks/>
          </p:cNvSpPr>
          <p:nvPr/>
        </p:nvSpPr>
        <p:spPr>
          <a:xfrm>
            <a:off x="57410" y="3995105"/>
            <a:ext cx="6518031" cy="3868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193675" algn="l">
              <a:lnSpc>
                <a:spcPct val="110000"/>
              </a:lnSpc>
              <a:buClr>
                <a:srgbClr val="FF6600"/>
              </a:buClr>
              <a:buSzPct val="60000"/>
              <a:buFont typeface="나눔스퀘어 Bold" panose="020B0600000101010101" pitchFamily="50" charset="-127"/>
              <a:buChar char="≫"/>
              <a:tabLst>
                <a:tab pos="182563" algn="l"/>
                <a:tab pos="898525" algn="l"/>
              </a:tabLst>
            </a:pP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 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 : </a:t>
            </a: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나의 경험을 바탕으로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자소서 기초 작업을 해봅시다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pPr marL="92075" algn="l">
              <a:lnSpc>
                <a:spcPct val="110000"/>
              </a:lnSpc>
              <a:buClr>
                <a:srgbClr val="FF6600"/>
              </a:buClr>
              <a:buSzPct val="60000"/>
              <a:tabLst>
                <a:tab pos="182563" algn="l"/>
                <a:tab pos="898525" algn="l"/>
              </a:tabLst>
            </a:pP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10</a:t>
            </a:r>
            <a:r>
              <a:rPr lang="ko-KR" altLang="en-US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 취업특강에서 활용될 예정이니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꼭 작성해봅니다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endParaRPr lang="ko-KR" altLang="en-US" sz="1200" b="1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12BD898-89D1-4B45-A21A-21CE2EE9E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417914"/>
              </p:ext>
            </p:extLst>
          </p:nvPr>
        </p:nvGraphicFramePr>
        <p:xfrm>
          <a:off x="441325" y="4375615"/>
          <a:ext cx="6867525" cy="5873604"/>
        </p:xfrm>
        <a:graphic>
          <a:graphicData uri="http://schemas.openxmlformats.org/drawingml/2006/table">
            <a:tbl>
              <a:tblPr firstRow="1" bandRow="1"/>
              <a:tblGrid>
                <a:gridCol w="968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339162421"/>
                    </a:ext>
                  </a:extLst>
                </a:gridCol>
              </a:tblGrid>
              <a:tr h="189264">
                <a:tc>
                  <a:txBody>
                    <a:bodyPr/>
                    <a:lstStyle>
                      <a:lvl1pPr marL="0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1pPr>
                      <a:lvl2pPr marL="377967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2pPr>
                      <a:lvl3pPr marL="755934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3pPr>
                      <a:lvl4pPr marL="1133902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4pPr>
                      <a:lvl5pPr marL="1511869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5pPr>
                      <a:lvl6pPr marL="1889836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6pPr>
                      <a:lvl7pPr marL="2267803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7pPr>
                      <a:lvl8pPr marL="2645771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8pPr>
                      <a:lvl9pPr marL="3023738" algn="l" defTabSz="755934" rtl="0" eaLnBrk="1" latinLnBrk="1" hangingPunct="1">
                        <a:defRPr sz="1488" b="1" kern="1200">
                          <a:solidFill>
                            <a:schemeClr val="lt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경험 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+mn-ea"/>
                          <a:cs typeface="Arial" panose="020B0604020202020204" pitchFamily="34" charset="0"/>
                        </a:rPr>
                        <a:t>현재까지 달성한 수준 및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99">
                <a:tc rowSpan="4"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예시</a:t>
                      </a: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공모전 참가</a:t>
                      </a:r>
                      <a:endParaRPr kumimoji="1" lang="en-US" altLang="ko-KR" sz="900" b="1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A2FF"/>
                        </a:solidFill>
                        <a:effectLst/>
                        <a:latin typeface="맑은 고딕" panose="020B0503020000020004" pitchFamily="50" charset="-127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10281" marR="10281" marT="102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상황 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(S)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전역 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비트코인이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주목받던 시기에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블록체인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기술에 관심을 갖게 되었습니다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스마트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컨트랙트에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대해서 공부하면서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제가 흥미를 느끼는 분야를 찾아 나아가려고 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741699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주어진 과제 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(T)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00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00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공모전에 참가한 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그 경험을 바탕으로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백엔드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개발자로서의 진로를 결정하게 되었습니다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이를 통해 삼성청년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SW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Dubai" panose="020B0503030403030204" pitchFamily="34" charset="-78"/>
                        </a:rPr>
                        <a:t>∙AI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아카데미에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입과했고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교육과정에서 배웠던 것들을 실제로 코딩에 적용하면서 코딩에 대한 즐거움을 느끼게 되었습니다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0100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(A)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당시 프로젝트에서 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REST API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를 개발하고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테스트 코드를 작성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리팩토링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데이터베이스를 연동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en-US" altLang="ko-KR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Git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  <a:hlinkClick r:id="rId2"/>
                        </a:rPr>
                        <a:t>https://github.com/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  <a:hlinkClick r:id="rId2"/>
                        </a:rPr>
                        <a:t>사용자이름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  <a:hlinkClick r:id="rId2"/>
                        </a:rPr>
                        <a:t>/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  <a:hlinkClick r:id="rId2"/>
                        </a:rPr>
                        <a:t>프로젝트이름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과 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Jira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를 사용하여 이슈를 관리하는 등의 실무 역량을 키웠습니다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실제 어플리케이션이 정상적으로 작동할 때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그 순간의 성취감은 말로 표현할 수 없을 만큼 크고 뿌듯했습니다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780572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결과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(R)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지속적으로 알고리즘 문제를 해결해 온 경험 덕분에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00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00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해커톤에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참가할 수 있었습니다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저는 모든 개발의 순간순간이 결국 도움이 된다는 것을 느낍니다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현재는 자바 스프링을 꾸준히 학습하며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서버 배포와 유지보수를 공부하며 서버 개발자로서의 역량을 꾸준히 키우고 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50061"/>
                  </a:ext>
                </a:extLst>
              </a:tr>
              <a:tr h="279699">
                <a:tc rowSpan="4"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항목 </a:t>
                      </a: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1</a:t>
                      </a:r>
                      <a:endParaRPr kumimoji="1" lang="ko-KR" altLang="en-US" sz="1200" b="1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5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10281" marR="10281" marT="102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BBF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상황 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(S)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16226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BBF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주어진 과제 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(T)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646732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BBF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(A)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24338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BBF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결과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(R)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00000"/>
                        </a:lnSpc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146109"/>
                  </a:ext>
                </a:extLst>
              </a:tr>
              <a:tr h="279699">
                <a:tc rowSpan="4"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항목 </a:t>
                      </a: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5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2</a:t>
                      </a:r>
                      <a:endParaRPr kumimoji="1" lang="ko-KR" altLang="en-US" sz="1200" b="1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5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10281" marR="10281" marT="102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BBF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상황 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(S)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45062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주어진 과제 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(T)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482879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행동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(A)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62332"/>
                  </a:ext>
                </a:extLst>
              </a:tr>
              <a:tr h="2796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결과</a:t>
                      </a: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(R)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101" marR="91101" marT="50298" marB="50298" anchor="ctr" horzOverflow="overflow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985085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1" y="59768"/>
            <a:ext cx="621479" cy="44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05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12BD898-89D1-4B45-A21A-21CE2EE9E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942438"/>
              </p:ext>
            </p:extLst>
          </p:nvPr>
        </p:nvGraphicFramePr>
        <p:xfrm>
          <a:off x="441325" y="4404447"/>
          <a:ext cx="6867525" cy="5759700"/>
        </p:xfrm>
        <a:graphic>
          <a:graphicData uri="http://schemas.openxmlformats.org/drawingml/2006/table">
            <a:tbl>
              <a:tblPr firstRow="1" bandRow="1"/>
              <a:tblGrid>
                <a:gridCol w="968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9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972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역량 키워드</a:t>
                      </a:r>
                    </a:p>
                  </a:txBody>
                  <a:tcPr marL="10281" marR="10281" marT="102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bg1"/>
                              </a:gs>
                              <a:gs pos="10000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경험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85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예시</a:t>
                      </a: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안정성</a:t>
                      </a: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실시간성</a:t>
                      </a:r>
                      <a:endParaRPr kumimoji="1" lang="en-US" altLang="ko-KR" sz="1200" b="1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755934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함께 고려</a:t>
                      </a:r>
                    </a:p>
                  </a:txBody>
                  <a:tcPr marL="10281" marR="10281" marT="102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1pPr>
                      <a:lvl2pPr marL="377967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2pPr>
                      <a:lvl3pPr marL="755934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3pPr>
                      <a:lvl4pPr marL="1133902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4pPr>
                      <a:lvl5pPr marL="1511869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5pPr>
                      <a:lvl6pPr marL="1889836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6pPr>
                      <a:lvl7pPr marL="2267803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7pPr>
                      <a:lvl8pPr marL="2645771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8pPr>
                      <a:lvl9pPr marL="3023738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백엔드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개발자로서 저의 가장 큰 강점은 안정성과 실시간성을 함께 고려한다는 것입니다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00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년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맑은 고딕"/>
                          <a:cs typeface="Arial" panose="020B0604020202020204" pitchFamily="34" charset="0"/>
                        </a:rPr>
                        <a:t>삼성청년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맑은 고딕"/>
                          <a:cs typeface="Arial" panose="020B0604020202020204" pitchFamily="34" charset="0"/>
                        </a:rPr>
                        <a:t>SW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맑은 고딕"/>
                          <a:cs typeface="Dubai" panose="020B0503030403030204" pitchFamily="34" charset="-78"/>
                        </a:rPr>
                        <a:t>∙AI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맑은 고딕"/>
                          <a:cs typeface="Arial" panose="020B0604020202020204" pitchFamily="34" charset="0"/>
                        </a:rPr>
                        <a:t>아카데미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에서 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‘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생성형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AI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와 </a:t>
                      </a:r>
                      <a:r>
                        <a:rPr kumimoji="1" lang="en-US" altLang="ko-KR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IoT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를 활용한 개인 건강관리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’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관통 프로젝트에서 팀장의 역할을 맡은 경험이 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당시 프로젝트에서 실시간 알림 기능 구현을 위해 기획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아키텍처 설계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DB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설계 등 프로젝트 첫 단계부터 진행하며 전체적인 워크 </a:t>
                      </a:r>
                      <a:r>
                        <a:rPr kumimoji="1" lang="ko-KR" altLang="en-US" sz="1000" b="0" u="none" strike="noStrike" kern="1200" cap="none" spc="-10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플로우를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익혔습니다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프로젝트를 애자일 방식으로 진행하며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피드백이 들어올 때마다 팀원들과 회의하며 프로젝트가 더 나은 방향으로 갈 수 있도록 수정했습니다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당시 가장 중요하게 생각했던 것은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팀원들과 사용자의 피드백을 실시간으로 고려하되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‘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건강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’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이라는 중요한 요소를 다루는 프로젝트인만큼 안정적인 흐름으로 사용자에게 신뢰를 주는 것이었습니다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이렇게 안정성과 실시간성을 함께 고려한 결과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프로젝트에서 전체 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위라는 순위를 달성했습니다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수상의 기쁨에 안주하지 않고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1" lang="ko-KR" altLang="en-US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당시 프로젝트에서 아쉬웠던 점을 바로 정리한 뒤 다음 프로젝트도 성공적으로 진행할 수 있도록 노력했습니다</a:t>
                      </a:r>
                      <a:r>
                        <a:rPr kumimoji="1" lang="en-US" altLang="ko-KR" sz="1000" b="0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741699"/>
                  </a:ext>
                </a:extLst>
              </a:tr>
              <a:tr h="372085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역량 </a:t>
                      </a: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10281" marR="10281" marT="102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BBF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489000"/>
                  </a:ext>
                </a:extLst>
              </a:tr>
              <a:tr h="372085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역량 </a:t>
                      </a:r>
                      <a:r>
                        <a:rPr kumimoji="1" lang="en-US" altLang="ko-KR" sz="1200" b="1" u="none" strike="noStrike" kern="1200" cap="none" spc="-10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/>
                          <a:cs typeface="Arial" panose="020B0604020202020204" pitchFamily="34" charset="0"/>
                        </a:rPr>
                        <a:t>2</a:t>
                      </a:r>
                      <a:endParaRPr kumimoji="1" lang="ko-KR" altLang="en-US" sz="1200" b="1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10281" marR="10281" marT="1028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7BBF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1pPr>
                      <a:lvl2pPr marL="377967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2pPr>
                      <a:lvl3pPr marL="755934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3pPr>
                      <a:lvl4pPr marL="1133902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4pPr>
                      <a:lvl5pPr marL="1511869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5pPr>
                      <a:lvl6pPr marL="1889836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6pPr>
                      <a:lvl7pPr marL="2267803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7pPr>
                      <a:lvl8pPr marL="2645771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8pPr>
                      <a:lvl9pPr marL="3023738" algn="l" defTabSz="755934" rtl="0" eaLnBrk="1" latinLnBrk="1" hangingPunct="1">
                        <a:defRPr sz="1488" kern="1200">
                          <a:solidFill>
                            <a:schemeClr val="dk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just" latinLnBrk="1">
                        <a:lnSpc>
                          <a:spcPct val="150000"/>
                        </a:lnSpc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</a:pPr>
                      <a:endParaRPr kumimoji="1" lang="en-US" altLang="ko-KR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 latinLnBrk="1">
                        <a:lnSpc>
                          <a:spcPct val="150000"/>
                        </a:lnSpc>
                      </a:pPr>
                      <a:endParaRPr kumimoji="1" lang="ko-KR" altLang="en-US" sz="1000" b="0" u="none" strike="noStrike" kern="1200" cap="none" spc="-10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405166"/>
              </p:ext>
            </p:extLst>
          </p:nvPr>
        </p:nvGraphicFramePr>
        <p:xfrm>
          <a:off x="441324" y="1170460"/>
          <a:ext cx="6867524" cy="24060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6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721">
                <a:tc>
                  <a:txBody>
                    <a:bodyPr/>
                    <a:lstStyle/>
                    <a:p>
                      <a:pPr algn="ctr" rtl="0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문제 해결 능력</a:t>
                      </a:r>
                    </a:p>
                  </a:txBody>
                  <a:tcPr marL="10281" marR="10281" marT="10281" marB="0" anchor="ctr">
                    <a:lnL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코드 최적화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데이터베이스 설계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REST API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설계 및 연동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algn="ctr" rtl="0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테스트 코드 작성 습관</a:t>
                      </a:r>
                    </a:p>
                  </a:txBody>
                  <a:tcPr marL="10281" marR="10281" marT="10281" marB="0" anchor="ctr">
                    <a:lnL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CI/CD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경험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Git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기반 협업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클린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코드 작성 습관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algn="ctr" rtl="0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끊임없는 학습 역량</a:t>
                      </a:r>
                    </a:p>
                  </a:txBody>
                  <a:tcPr marL="10281" marR="10281" marT="10281" marB="0" anchor="ctr">
                    <a:lnL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신기술에 대한 관심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문서화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갈등 해결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algn="ctr" rtl="0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서비스에 대한 책임감</a:t>
                      </a:r>
                    </a:p>
                  </a:txBody>
                  <a:tcPr marL="10281" marR="10281" marT="10281" marB="0" anchor="ctr">
                    <a:lnL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고객 중심 사고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UX/UI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설계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서비스 개선에 대한 의지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algn="ctr" rtl="0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구조화 역량</a:t>
                      </a:r>
                    </a:p>
                  </a:txBody>
                  <a:tcPr marL="10281" marR="10281" marT="10281" marB="0" anchor="ctr">
                    <a:lnL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타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직군과의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협업 역량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분석력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꼼꼼함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algn="ctr" rtl="0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성장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마인드셋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0281" marR="10281" marT="10281" marB="0" anchor="ctr">
                    <a:lnL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리더십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끈기와 집요함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실행능력</a:t>
                      </a: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algn="ctr" rtl="0"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창의적 기획 역량</a:t>
                      </a:r>
                    </a:p>
                  </a:txBody>
                  <a:tcPr marL="10281" marR="10281" marT="10281" marB="0" anchor="ctr">
                    <a:lnL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                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                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                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10281" marR="10281" marT="10281" marB="0" anchor="ctr">
                    <a:lnL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5377B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37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제목 1">
            <a:extLst>
              <a:ext uri="{FF2B5EF4-FFF2-40B4-BE49-F238E27FC236}">
                <a16:creationId xmlns:a16="http://schemas.microsoft.com/office/drawing/2014/main" id="{AA3E48BD-7C90-4DF5-80EE-AB61AB6D9EF7}"/>
              </a:ext>
            </a:extLst>
          </p:cNvPr>
          <p:cNvSpPr txBox="1">
            <a:spLocks/>
          </p:cNvSpPr>
          <p:nvPr/>
        </p:nvSpPr>
        <p:spPr>
          <a:xfrm>
            <a:off x="57409" y="783600"/>
            <a:ext cx="6518031" cy="3868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193675" algn="l">
              <a:lnSpc>
                <a:spcPct val="110000"/>
              </a:lnSpc>
              <a:buClr>
                <a:srgbClr val="FF6600"/>
              </a:buClr>
              <a:buSzPct val="60000"/>
              <a:buFont typeface="나눔스퀘어 Bold" panose="020B0600000101010101" pitchFamily="50" charset="-127"/>
              <a:buChar char="≫"/>
              <a:tabLst>
                <a:tab pos="182563" algn="l"/>
                <a:tab pos="898525" algn="l"/>
              </a:tabLst>
            </a:pP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 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 : </a:t>
            </a: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나만의 핵심 역량 키워드를 작성하여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자소서 기초 작업을 해봅시다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pPr marL="92075" algn="l">
              <a:lnSpc>
                <a:spcPct val="110000"/>
              </a:lnSpc>
              <a:buClr>
                <a:srgbClr val="FF6600"/>
              </a:buClr>
              <a:buSzPct val="60000"/>
              <a:tabLst>
                <a:tab pos="182563" algn="l"/>
                <a:tab pos="898525" algn="l"/>
              </a:tabLst>
            </a:pP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10</a:t>
            </a:r>
            <a:r>
              <a:rPr lang="ko-KR" altLang="en-US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 취업특강에서 활용될 예정이니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꼭 작성해봅니다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endParaRPr lang="ko-KR" altLang="en-US" sz="1200" b="1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A3E48BD-7C90-4DF5-80EE-AB61AB6D9EF7}"/>
              </a:ext>
            </a:extLst>
          </p:cNvPr>
          <p:cNvSpPr txBox="1">
            <a:spLocks/>
          </p:cNvSpPr>
          <p:nvPr/>
        </p:nvSpPr>
        <p:spPr>
          <a:xfrm>
            <a:off x="57409" y="3979487"/>
            <a:ext cx="6518031" cy="3868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193675" algn="l">
              <a:lnSpc>
                <a:spcPct val="110000"/>
              </a:lnSpc>
              <a:buClr>
                <a:srgbClr val="FF6600"/>
              </a:buClr>
              <a:buSzPct val="60000"/>
              <a:buFont typeface="나눔스퀘어 Bold" panose="020B0600000101010101" pitchFamily="50" charset="-127"/>
              <a:buChar char="≫"/>
              <a:tabLst>
                <a:tab pos="182563" algn="l"/>
                <a:tab pos="898525" algn="l"/>
              </a:tabLst>
            </a:pP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과제 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 : </a:t>
            </a: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핵심 역량 키워드와 항목별 소재를 매칭하여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자소서 기초 작업을 해봅시다</a:t>
            </a: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pPr marL="92075" algn="l">
              <a:lnSpc>
                <a:spcPct val="110000"/>
              </a:lnSpc>
              <a:buClr>
                <a:srgbClr val="FF6600"/>
              </a:buClr>
              <a:buSzPct val="60000"/>
              <a:tabLst>
                <a:tab pos="182563" algn="l"/>
                <a:tab pos="898525" algn="l"/>
              </a:tabLst>
            </a:pPr>
            <a:r>
              <a:rPr lang="en-US" altLang="ko-KR" sz="1200" b="1" dirty="0">
                <a:solidFill>
                  <a:srgbClr val="0020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 10</a:t>
            </a:r>
            <a:r>
              <a:rPr lang="ko-KR" altLang="en-US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 취업특강에서 활용될 예정이니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꼭 작성해봅니다</a:t>
            </a:r>
            <a:r>
              <a:rPr lang="en-US" altLang="ko-KR" sz="1200" b="1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endParaRPr lang="ko-KR" altLang="en-US" sz="1200" b="1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23959" y="3576507"/>
            <a:ext cx="5984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* </a:t>
            </a:r>
            <a:r>
              <a:rPr lang="ko-KR" altLang="en-US" sz="800" dirty="0">
                <a:latin typeface="+mn-ea"/>
              </a:rPr>
              <a:t>상기 핵심 역량은 </a:t>
            </a:r>
            <a:r>
              <a:rPr lang="en-US" altLang="ko-KR" sz="800" dirty="0">
                <a:latin typeface="+mn-ea"/>
              </a:rPr>
              <a:t>‘</a:t>
            </a:r>
            <a:r>
              <a:rPr lang="ko-KR" altLang="en-US" sz="800" dirty="0">
                <a:latin typeface="+mn-ea"/>
              </a:rPr>
              <a:t>개발자 전용</a:t>
            </a:r>
            <a:r>
              <a:rPr lang="en-US" altLang="ko-KR" sz="800" dirty="0">
                <a:latin typeface="+mn-ea"/>
              </a:rPr>
              <a:t>’ </a:t>
            </a:r>
            <a:r>
              <a:rPr lang="ko-KR" altLang="en-US" sz="800" dirty="0">
                <a:latin typeface="+mn-ea"/>
              </a:rPr>
              <a:t>키워드로</a:t>
            </a:r>
            <a:r>
              <a:rPr lang="en-US" altLang="ko-KR" sz="800" dirty="0">
                <a:latin typeface="+mn-ea"/>
              </a:rPr>
              <a:t>, </a:t>
            </a:r>
            <a:r>
              <a:rPr lang="ko-KR" altLang="en-US" sz="800" dirty="0">
                <a:latin typeface="+mn-ea"/>
              </a:rPr>
              <a:t>이외 </a:t>
            </a:r>
            <a:r>
              <a:rPr lang="en-US" altLang="ko-KR" sz="800" dirty="0">
                <a:latin typeface="+mn-ea"/>
              </a:rPr>
              <a:t>‘</a:t>
            </a:r>
            <a:r>
              <a:rPr lang="ko-KR" altLang="en-US" sz="800" dirty="0">
                <a:latin typeface="+mn-ea"/>
              </a:rPr>
              <a:t>인성</a:t>
            </a:r>
            <a:r>
              <a:rPr lang="en-US" altLang="ko-KR" sz="800" dirty="0">
                <a:latin typeface="+mn-ea"/>
              </a:rPr>
              <a:t>’</a:t>
            </a:r>
            <a:r>
              <a:rPr lang="ko-KR" altLang="en-US" sz="800" dirty="0">
                <a:latin typeface="+mn-ea"/>
              </a:rPr>
              <a:t> 등을 주제로 한 취업 준비 시에는 타 키워드로 도움을 받을 수 있습니다</a:t>
            </a:r>
            <a:r>
              <a:rPr lang="en-US" altLang="ko-KR" sz="800" dirty="0">
                <a:latin typeface="+mn-ea"/>
              </a:rPr>
              <a:t>. </a:t>
            </a:r>
            <a:endParaRPr lang="ko-KR" altLang="en-US" sz="800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41" y="59768"/>
            <a:ext cx="621479" cy="44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9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1559</TotalTime>
  <Words>779</Words>
  <Application>Microsoft Office PowerPoint</Application>
  <PresentationFormat>사용자 지정</PresentationFormat>
  <Paragraphs>109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나눔스퀘어</vt:lpstr>
      <vt:lpstr>나눔스퀘어 Bold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jjun</dc:creator>
  <cp:lastModifiedBy>SSAFY</cp:lastModifiedBy>
  <cp:revision>183</cp:revision>
  <cp:lastPrinted>2019-10-28T04:33:11Z</cp:lastPrinted>
  <dcterms:created xsi:type="dcterms:W3CDTF">2019-10-24T04:07:11Z</dcterms:created>
  <dcterms:modified xsi:type="dcterms:W3CDTF">2025-10-27T09:17:01Z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